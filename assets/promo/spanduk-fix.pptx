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6800" cy="21374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6800" cy="21374100"/>
          </a:xfrm>
          <a:prstGeom prst="rect">
            <a:avLst/>
          </a:prstGeom>
          <a:solidFill>
            <a:srgbClr val="FF9B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89720"/>
            <a:ext cx="30276800" cy="6446520"/>
          </a:xfrm>
          <a:prstGeom prst="rect">
            <a:avLst/>
          </a:prstGeom>
          <a:solidFill>
            <a:srgbClr val="FFF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9189720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9774936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0360152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0945368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11530584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12115800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12701016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13286232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3871448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14456664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15041880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15627096"/>
            <a:ext cx="30276800" cy="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116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175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233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350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408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467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584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0642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20700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30759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40817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0876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0934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70992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1051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1109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1168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1226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1284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1343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1401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1460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15184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15768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6352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916936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175200" y="9189720"/>
            <a:ext cx="0" cy="6446520"/>
          </a:xfrm>
          <a:prstGeom prst="line">
            <a:avLst/>
          </a:prstGeom>
          <a:ln w="15875">
            <a:solidFill>
              <a:srgbClr val="FF8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731520" y="502920"/>
            <a:ext cx="2331720" cy="1325880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51560" y="914400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08760" y="658368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956816" y="914400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408176" y="1170432"/>
            <a:ext cx="749808" cy="47548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066240" y="502920"/>
            <a:ext cx="2331720" cy="1325880"/>
          </a:xfrm>
          <a:prstGeom prst="roundRect">
            <a:avLst/>
          </a:prstGeom>
          <a:solidFill>
            <a:srgbClr val="FF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386280" y="914400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843480" y="658368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8291536" y="914400"/>
            <a:ext cx="310896" cy="310896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7742896" y="1170432"/>
            <a:ext cx="749808" cy="475488"/>
          </a:xfrm>
          <a:prstGeom prst="ellipse">
            <a:avLst/>
          </a:prstGeom>
          <a:solidFill>
            <a:srgbClr val="FFB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0" y="411480"/>
            <a:ext cx="6126480" cy="344446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115568" y="2313432"/>
            <a:ext cx="1810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>
                <a:solidFill>
                  <a:srgbClr val="073F9C"/>
                </a:solidFill>
                <a:latin typeface="Arial Black"/>
              </a:rPr>
              <a:t>ICE CREAM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2167127"/>
            <a:ext cx="1810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>
                <a:solidFill>
                  <a:srgbClr val="FFD52E"/>
                </a:solidFill>
                <a:latin typeface="Arial Black"/>
              </a:rPr>
              <a:t>ICE CREAM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" y="2020824"/>
            <a:ext cx="1810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>
                <a:solidFill>
                  <a:srgbClr val="FF33BD"/>
                </a:solidFill>
                <a:latin typeface="Arial Black"/>
              </a:rPr>
              <a:t>ICE CREAM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1938528"/>
            <a:ext cx="181051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>
                <a:solidFill>
                  <a:srgbClr val="FFF4A8"/>
                </a:solidFill>
                <a:latin typeface="Arial Black"/>
              </a:rPr>
              <a:t>ICE CREAM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5568" y="4864608"/>
            <a:ext cx="1645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 Black"/>
              </a:rPr>
              <a:t>PLAY YOUR MOOD, TASTE YOUR SCOOP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5559552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AI mood tracker, mini game reward, dan photobooth lucu.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5989320"/>
            <a:ext cx="1536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Semua rasa ditampilkan. Stok terbatas dan bisa berubah di booth.</a:t>
            </a:r>
          </a:p>
        </p:txBody>
      </p:sp>
      <p:pic>
        <p:nvPicPr>
          <p:cNvPr id="65" name="Picture 64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6400800"/>
            <a:ext cx="9052560" cy="9052560"/>
          </a:xfrm>
          <a:prstGeom prst="rect">
            <a:avLst/>
          </a:prstGeom>
        </p:spPr>
      </p:pic>
      <p:sp>
        <p:nvSpPr>
          <p:cNvPr id="66" name="Oval 65"/>
          <p:cNvSpPr/>
          <p:nvPr/>
        </p:nvSpPr>
        <p:spPr>
          <a:xfrm>
            <a:off x="2606040" y="13944600"/>
            <a:ext cx="8138160" cy="914400"/>
          </a:xfrm>
          <a:prstGeom prst="ellipse">
            <a:avLst/>
          </a:prstGeom>
          <a:solidFill>
            <a:srgbClr val="C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image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6492240"/>
            <a:ext cx="1554480" cy="2035499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9202400" y="35844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rial Black"/>
              </a:rPr>
              <a:t>SPECIAL SALE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248120" y="4590288"/>
            <a:ext cx="8869680" cy="3611880"/>
          </a:xfrm>
          <a:prstGeom prst="roundRect">
            <a:avLst/>
          </a:prstGeom>
          <a:solidFill>
            <a:srgbClr val="BF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9933920" y="48920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VANILLA</a:t>
            </a:r>
          </a:p>
        </p:txBody>
      </p:sp>
      <p:sp>
        <p:nvSpPr>
          <p:cNvPr id="71" name="Oval 70"/>
          <p:cNvSpPr/>
          <p:nvPr/>
        </p:nvSpPr>
        <p:spPr>
          <a:xfrm>
            <a:off x="27111960" y="4965192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933920" y="5394959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CHOCOLATE</a:t>
            </a:r>
          </a:p>
        </p:txBody>
      </p:sp>
      <p:sp>
        <p:nvSpPr>
          <p:cNvPr id="73" name="Oval 72"/>
          <p:cNvSpPr/>
          <p:nvPr/>
        </p:nvSpPr>
        <p:spPr>
          <a:xfrm>
            <a:off x="27111960" y="5468112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933920" y="5897879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TARO</a:t>
            </a:r>
          </a:p>
        </p:txBody>
      </p:sp>
      <p:sp>
        <p:nvSpPr>
          <p:cNvPr id="75" name="Oval 74"/>
          <p:cNvSpPr/>
          <p:nvPr/>
        </p:nvSpPr>
        <p:spPr>
          <a:xfrm>
            <a:off x="27111960" y="5971031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933920" y="640080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DURIAN</a:t>
            </a:r>
          </a:p>
        </p:txBody>
      </p:sp>
      <p:sp>
        <p:nvSpPr>
          <p:cNvPr id="77" name="Oval 76"/>
          <p:cNvSpPr/>
          <p:nvPr/>
        </p:nvSpPr>
        <p:spPr>
          <a:xfrm>
            <a:off x="27111960" y="6473952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9933920" y="690372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JACKFRUIT</a:t>
            </a:r>
          </a:p>
        </p:txBody>
      </p:sp>
      <p:sp>
        <p:nvSpPr>
          <p:cNvPr id="79" name="Oval 78"/>
          <p:cNvSpPr/>
          <p:nvPr/>
        </p:nvSpPr>
        <p:spPr>
          <a:xfrm>
            <a:off x="27111960" y="6976872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933920" y="7406640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5CC8"/>
                </a:solidFill>
                <a:latin typeface="Arial Black"/>
              </a:rPr>
              <a:t>STRAWBERRY</a:t>
            </a:r>
          </a:p>
        </p:txBody>
      </p:sp>
      <p:sp>
        <p:nvSpPr>
          <p:cNvPr id="81" name="Oval 80"/>
          <p:cNvSpPr/>
          <p:nvPr/>
        </p:nvSpPr>
        <p:spPr>
          <a:xfrm>
            <a:off x="27111960" y="7479792"/>
            <a:ext cx="146304" cy="146304"/>
          </a:xfrm>
          <a:prstGeom prst="ellipse">
            <a:avLst/>
          </a:prstGeom>
          <a:solidFill>
            <a:srgbClr val="135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8836640" y="9784080"/>
            <a:ext cx="7315200" cy="7315200"/>
          </a:xfrm>
          <a:prstGeom prst="ellipse">
            <a:avLst/>
          </a:prstGeom>
          <a:solidFill>
            <a:srgbClr val="FFF22D"/>
          </a:solidFill>
          <a:ln w="38100">
            <a:solidFill>
              <a:srgbClr val="FF3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9522440" y="10469880"/>
            <a:ext cx="5943600" cy="5943600"/>
          </a:xfrm>
          <a:prstGeom prst="ellipse">
            <a:avLst/>
          </a:prstGeom>
          <a:solidFill>
            <a:srgbClr val="FFF7A7"/>
          </a:solidFill>
          <a:ln w="38100">
            <a:solidFill>
              <a:srgbClr val="FFD5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8608040" y="9674352"/>
            <a:ext cx="7726679" cy="1234440"/>
          </a:xfrm>
          <a:prstGeom prst="roundRect">
            <a:avLst/>
          </a:prstGeom>
          <a:solidFill>
            <a:srgbClr val="166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345400" y="984808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33C"/>
                </a:solidFill>
                <a:latin typeface="Arial Black"/>
              </a:rPr>
              <a:t>ONLY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080224" y="11155680"/>
            <a:ext cx="4480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200" b="1">
                <a:solidFill>
                  <a:srgbClr val="5CC4FF"/>
                </a:solidFill>
                <a:latin typeface="Arial Black"/>
              </a:rPr>
              <a:t>5K</a:t>
            </a:r>
          </a:p>
        </p:txBody>
      </p:sp>
      <p:sp>
        <p:nvSpPr>
          <p:cNvPr id="87" name="5-Point Star 86"/>
          <p:cNvSpPr/>
          <p:nvPr/>
        </p:nvSpPr>
        <p:spPr>
          <a:xfrm>
            <a:off x="24460200" y="11018520"/>
            <a:ext cx="2926080" cy="2926080"/>
          </a:xfrm>
          <a:prstGeom prst="star5">
            <a:avLst/>
          </a:prstGeom>
          <a:solidFill>
            <a:srgbClr val="FF32BD"/>
          </a:solidFill>
          <a:ln w="38100">
            <a:solidFill>
              <a:srgbClr val="FFD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191720" y="11996928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>
                <a:solidFill>
                  <a:srgbClr val="FFF942"/>
                </a:solidFill>
                <a:latin typeface="Arial Black"/>
              </a:rPr>
              <a:t>Rp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9796760" y="14950440"/>
            <a:ext cx="6035040" cy="960120"/>
          </a:xfrm>
          <a:prstGeom prst="roundRect">
            <a:avLst/>
          </a:prstGeom>
          <a:solidFill>
            <a:srgbClr val="FF3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116800" y="1506931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 Black"/>
              </a:rPr>
              <a:t>ALL SCOOPS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43000" y="16687800"/>
            <a:ext cx="5166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16998696"/>
            <a:ext cx="1143000" cy="11430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651760" y="172364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A4D"/>
                </a:solidFill>
                <a:latin typeface="Arial Black"/>
              </a:rPr>
              <a:t>AI mood tracker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51760" y="178033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A6A"/>
                </a:solidFill>
                <a:latin typeface="Arial"/>
              </a:rPr>
              <a:t>Scan ticket dulu, lalu nikmati fiturnya.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995160" y="16687800"/>
            <a:ext cx="5166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16998696"/>
            <a:ext cx="1143000" cy="11430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503920" y="172364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A4D"/>
                </a:solidFill>
                <a:latin typeface="Arial Black"/>
              </a:rPr>
              <a:t>Mini game reward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178033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A6A"/>
                </a:solidFill>
                <a:latin typeface="Arial"/>
              </a:rPr>
              <a:t>Scan ticket dulu, lalu nikmati fiturnya.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2847320" y="16687800"/>
            <a:ext cx="5166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image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5920" y="16998696"/>
            <a:ext cx="1143000" cy="11430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4356080" y="1723644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A4D"/>
                </a:solidFill>
                <a:latin typeface="Arial Black"/>
              </a:rPr>
              <a:t>Photobooth lucu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4356080" y="1780336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F4A6A"/>
                </a:solidFill>
                <a:latin typeface="Arial"/>
              </a:rPr>
              <a:t>Scan ticket dulu, lalu nikmati fiturnya.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19110960"/>
            <a:ext cx="30276800" cy="2267712"/>
          </a:xfrm>
          <a:prstGeom prst="rect">
            <a:avLst/>
          </a:prstGeom>
          <a:solidFill>
            <a:srgbClr val="1F7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77240" y="19476720"/>
            <a:ext cx="6126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8D8"/>
                </a:solidFill>
                <a:latin typeface="Arial Black"/>
              </a:rPr>
              <a:t>SCOOPIFY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672" y="20226528"/>
            <a:ext cx="1298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SCAN TICKET. PLAY MINI GAME. WIN TOPPING OR DISCOUNT.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4672" y="20619720"/>
            <a:ext cx="1463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Gedung 77 Universitas Negeri Medan, 2 Juni 2026, 08.00 - 16.00 WIB</a:t>
            </a:r>
          </a:p>
        </p:txBody>
      </p:sp>
      <p:pic>
        <p:nvPicPr>
          <p:cNvPr id="107" name="Picture 106" descr="image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37640" y="19339560"/>
            <a:ext cx="1783080" cy="1783080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24688800" y="197327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</a:rPr>
              <a:t>SCAN WEB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4688800" y="20263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@scoopify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